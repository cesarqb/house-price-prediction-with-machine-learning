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BCBC4-43B9-471C-8F0C-226185EB7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D956CE-EBE0-49DE-9AB3-E07E35790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83BC1-5D6E-40BE-B8DE-FDFB38AC0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2C91-6E60-40F7-90E1-D8C086FA3778}" type="datetimeFigureOut">
              <a:rPr lang="es-PE" smtClean="0"/>
              <a:t>6/06/2026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8BFBB0-3D20-4667-A1E9-892CC4325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50038B-04F3-45F7-8ECD-425BED29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22518-3C87-4552-9A4E-1826FAFEFDE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60027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9C21B3-312B-4DF6-BE79-40865E211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1A787B-86AC-4912-8217-2AF7B72D0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484D78-9948-4026-9CA0-D5A86C654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2C91-6E60-40F7-90E1-D8C086FA3778}" type="datetimeFigureOut">
              <a:rPr lang="es-PE" smtClean="0"/>
              <a:t>6/06/2026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A68A46-4BEE-4BAF-8D23-DC4F279AF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D64335-6888-4776-8A1B-F8CBF1877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22518-3C87-4552-9A4E-1826FAFEFDE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63634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2A0CC-B37A-40E1-849F-0A004FD02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68D9E2-AEAD-48F5-B6C2-8FEEAB7E8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2EBD88-F7DF-4C39-BA09-0841C076F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2C91-6E60-40F7-90E1-D8C086FA3778}" type="datetimeFigureOut">
              <a:rPr lang="es-PE" smtClean="0"/>
              <a:t>6/06/2026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572FEF-A618-4496-B3B0-5C165337B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CE23DF-7DB4-42E2-9CA3-9C5294626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22518-3C87-4552-9A4E-1826FAFEFDE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455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C73C89-5082-4E7C-90A9-45A32FEAD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19BD20-215A-44DB-A2D5-3B3E4C93C6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D0DE3D-9713-4DA9-8AAF-452904B26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0668FE-9E04-464F-9933-7649ADDA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2C91-6E60-40F7-90E1-D8C086FA3778}" type="datetimeFigureOut">
              <a:rPr lang="es-PE" smtClean="0"/>
              <a:t>6/06/2026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3B259E-B894-45F6-A217-A97846B70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972276-9A19-4765-8DD8-5DF980AA8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22518-3C87-4552-9A4E-1826FAFEFDE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41860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BE536-D31D-4ACC-86D6-0331418A5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45581D-05E8-4981-8B15-9C2C2EADD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326D19-56B2-448E-B8EE-6E0023CB6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2C06A0C-1E6F-4B99-975A-8F75A60558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460AFA0-9988-4EDC-9827-A06A0ED92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F96DA98-D5EC-4980-AB88-797C7ABE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2C91-6E60-40F7-90E1-D8C086FA3778}" type="datetimeFigureOut">
              <a:rPr lang="es-PE" smtClean="0"/>
              <a:t>6/06/2026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F2384C5-183A-4762-8706-A9D9C3CF1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0D34E4A-EC3D-43A8-9FB8-2F0EE4A37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22518-3C87-4552-9A4E-1826FAFEFDE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43889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2F7C2C-BAD8-425B-B07F-CEF60E30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BB3FC3D-260B-4DD2-B363-34457405A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2C91-6E60-40F7-90E1-D8C086FA3778}" type="datetimeFigureOut">
              <a:rPr lang="es-PE" smtClean="0"/>
              <a:t>6/06/2026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1991DB9-01E7-4C7C-BFF4-8B3FF91D5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B54FE9E-071D-49B2-AABE-B9A9866B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22518-3C87-4552-9A4E-1826FAFEFDE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34180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8B7A92-7275-4BE8-94CA-16861F6F4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2C91-6E60-40F7-90E1-D8C086FA3778}" type="datetimeFigureOut">
              <a:rPr lang="es-PE" smtClean="0"/>
              <a:t>6/06/2026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F6883FC-7346-48C7-8017-854E2596B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CE75C7-236F-413B-8B22-9C37496AB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22518-3C87-4552-9A4E-1826FAFEFDE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8032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3AEF0C-58E2-432F-844F-DDABFBC15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7B4353-F12E-4B62-97E5-33BDDCFA4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CA93D8-35FA-4809-B057-31A6B5934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5C6DA8-8C10-4AAE-A87D-D57305DD7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2C91-6E60-40F7-90E1-D8C086FA3778}" type="datetimeFigureOut">
              <a:rPr lang="es-PE" smtClean="0"/>
              <a:t>6/06/2026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4D3064B-8EA0-45FE-BDF0-D52298AD4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7F3BC0-D176-4BFB-B338-1BA25575B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22518-3C87-4552-9A4E-1826FAFEFDE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02076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E2C6B5-8DD0-4499-958B-40063050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90FAB87-7B8C-436F-827F-CF7A6C71AD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37B7E18-EA6C-4335-AAB2-6EB65269E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95CE08-9A06-4DE4-BC73-653E1D1A7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2C91-6E60-40F7-90E1-D8C086FA3778}" type="datetimeFigureOut">
              <a:rPr lang="es-PE" smtClean="0"/>
              <a:t>6/06/2026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2B2352-499F-4916-AF8E-51869B467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35FE81-3175-40E0-B02D-701DB612A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22518-3C87-4552-9A4E-1826FAFEFDE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2087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E8E277-442B-40F2-8B52-ADC5C7917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31EC4F1-697C-45B2-867A-C64C9D142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AB7D71-F57A-4374-8F3C-05C555593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2C91-6E60-40F7-90E1-D8C086FA3778}" type="datetimeFigureOut">
              <a:rPr lang="es-PE" smtClean="0"/>
              <a:t>6/06/2026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2E9A40-94BF-4200-B335-79B4A7201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BE76E0-169D-4CD0-9CF0-8AA98C04B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22518-3C87-4552-9A4E-1826FAFEFDE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5510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A7D42DA-DCFA-466B-9E17-4E6B5D9D7B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EF5A9B-2505-4E6D-BD2A-5974067F5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E071F6-FB31-4E91-A4C6-1DEF9456B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2C91-6E60-40F7-90E1-D8C086FA3778}" type="datetimeFigureOut">
              <a:rPr lang="es-PE" smtClean="0"/>
              <a:t>6/06/2026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E30972-66A2-4A93-9EAB-F00853E1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F2D04C-79E3-48E8-BBB2-6F0834BC1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22518-3C87-4552-9A4E-1826FAFEFDE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53882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2880A62-0F4D-4564-9CBD-A98475410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DCF69F-5475-4A30-9446-EB1089821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360A21-D7A7-479C-BADB-8F9270969E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A2C91-6E60-40F7-90E1-D8C086FA3778}" type="datetimeFigureOut">
              <a:rPr lang="es-PE" smtClean="0"/>
              <a:t>6/06/2026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80F3BC-1DBB-435E-BA41-B1E7D54CF9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EC5506-5354-4D05-8D4E-6522D6ECF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22518-3C87-4552-9A4E-1826FAFEFDE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53535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8405673-AEF1-434B-93B0-20579A709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932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8405673-AEF1-434B-93B0-20579A7092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3" r="66885" b="70994"/>
          <a:stretch/>
        </p:blipFill>
        <p:spPr>
          <a:xfrm>
            <a:off x="0" y="0"/>
            <a:ext cx="12192000" cy="683135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00ADE68-EDAC-452A-9AB9-2A986DD197F9}"/>
              </a:ext>
            </a:extLst>
          </p:cNvPr>
          <p:cNvSpPr txBox="1"/>
          <p:nvPr/>
        </p:nvSpPr>
        <p:spPr>
          <a:xfrm>
            <a:off x="277905" y="1488142"/>
            <a:ext cx="83640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b="1" dirty="0">
                <a:solidFill>
                  <a:schemeClr val="bg1"/>
                </a:solidFill>
                <a:highlight>
                  <a:srgbClr val="008080"/>
                </a:highlight>
              </a:rPr>
              <a:t>MODELO DE PREDICCIÓN DE PRECIOS DE VIVIENDAS</a:t>
            </a:r>
            <a:endParaRPr lang="es-PE" sz="4000" i="1" dirty="0">
              <a:solidFill>
                <a:schemeClr val="bg1"/>
              </a:solidFill>
              <a:highlight>
                <a:srgbClr val="008080"/>
              </a:highlight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68DC4A4-8BCA-44C1-ACAC-0E47CAF9F800}"/>
              </a:ext>
            </a:extLst>
          </p:cNvPr>
          <p:cNvSpPr txBox="1"/>
          <p:nvPr/>
        </p:nvSpPr>
        <p:spPr>
          <a:xfrm>
            <a:off x="376518" y="5674660"/>
            <a:ext cx="55401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i="1" dirty="0">
                <a:solidFill>
                  <a:schemeClr val="bg1"/>
                </a:solidFill>
              </a:rPr>
              <a:t>César Quezada</a:t>
            </a:r>
          </a:p>
          <a:p>
            <a:r>
              <a:rPr lang="es-PE" sz="2800" i="1" dirty="0">
                <a:solidFill>
                  <a:schemeClr val="bg1"/>
                </a:solidFill>
              </a:rPr>
              <a:t>Data </a:t>
            </a:r>
            <a:r>
              <a:rPr lang="es-PE" sz="2800" i="1" dirty="0" err="1">
                <a:solidFill>
                  <a:schemeClr val="bg1"/>
                </a:solidFill>
              </a:rPr>
              <a:t>Scientist</a:t>
            </a:r>
            <a:r>
              <a:rPr lang="es-PE" sz="2800" i="1" dirty="0">
                <a:solidFill>
                  <a:schemeClr val="bg1"/>
                </a:solidFill>
              </a:rPr>
              <a:t> | Machine </a:t>
            </a:r>
            <a:r>
              <a:rPr lang="es-PE" sz="2800" i="1" dirty="0" err="1">
                <a:solidFill>
                  <a:schemeClr val="bg1"/>
                </a:solidFill>
              </a:rPr>
              <a:t>Learning</a:t>
            </a:r>
            <a:endParaRPr lang="es-PE" sz="28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45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1AE1B309-F271-4600-AF45-7188D7046F40}"/>
              </a:ext>
            </a:extLst>
          </p:cNvPr>
          <p:cNvGrpSpPr/>
          <p:nvPr/>
        </p:nvGrpSpPr>
        <p:grpSpPr>
          <a:xfrm>
            <a:off x="0" y="0"/>
            <a:ext cx="12223616" cy="6858000"/>
            <a:chOff x="0" y="0"/>
            <a:chExt cx="12223616" cy="6858000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3F214724-861F-49C4-A940-874E5F367C78}"/>
                </a:ext>
              </a:extLst>
            </p:cNvPr>
            <p:cNvGrpSpPr/>
            <p:nvPr/>
          </p:nvGrpSpPr>
          <p:grpSpPr>
            <a:xfrm>
              <a:off x="0" y="0"/>
              <a:ext cx="12223616" cy="6858000"/>
              <a:chOff x="-31616" y="0"/>
              <a:chExt cx="12223616" cy="6858000"/>
            </a:xfrm>
          </p:grpSpPr>
          <p:pic>
            <p:nvPicPr>
              <p:cNvPr id="5" name="Imagen 4">
                <a:extLst>
                  <a:ext uri="{FF2B5EF4-FFF2-40B4-BE49-F238E27FC236}">
                    <a16:creationId xmlns:a16="http://schemas.microsoft.com/office/drawing/2014/main" id="{08405673-AEF1-434B-93B0-20579A7092F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6778" t="33595" b="39073"/>
              <a:stretch/>
            </p:blipFill>
            <p:spPr>
              <a:xfrm>
                <a:off x="-31616" y="197224"/>
                <a:ext cx="12223616" cy="6660776"/>
              </a:xfrm>
              <a:prstGeom prst="rect">
                <a:avLst/>
              </a:prstGeom>
            </p:spPr>
          </p:pic>
          <p:pic>
            <p:nvPicPr>
              <p:cNvPr id="4" name="Imagen 3">
                <a:extLst>
                  <a:ext uri="{FF2B5EF4-FFF2-40B4-BE49-F238E27FC236}">
                    <a16:creationId xmlns:a16="http://schemas.microsoft.com/office/drawing/2014/main" id="{E7B5D858-B59B-4C27-BE7F-4133729A4F6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6778" t="33595" b="64198"/>
              <a:stretch/>
            </p:blipFill>
            <p:spPr>
              <a:xfrm>
                <a:off x="-31616" y="0"/>
                <a:ext cx="12223616" cy="537883"/>
              </a:xfrm>
              <a:prstGeom prst="rect">
                <a:avLst/>
              </a:prstGeom>
            </p:spPr>
          </p:pic>
        </p:grp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1BA48497-5199-47E1-B246-E47FE35BC8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415" t="38120" r="3058" b="60629"/>
            <a:stretch/>
          </p:blipFill>
          <p:spPr>
            <a:xfrm>
              <a:off x="7503457" y="1443316"/>
              <a:ext cx="3505201" cy="824755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F6C4995D-0F48-4053-A9BE-82E55E1C33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415" t="38120" r="3058" b="60629"/>
            <a:stretch/>
          </p:blipFill>
          <p:spPr>
            <a:xfrm>
              <a:off x="7727575" y="3209364"/>
              <a:ext cx="3505201" cy="824755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BB47F651-F0C2-4B20-997D-7EB74228E1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415" t="38120" r="3058" b="60629"/>
            <a:stretch/>
          </p:blipFill>
          <p:spPr>
            <a:xfrm>
              <a:off x="7727574" y="5033682"/>
              <a:ext cx="3505201" cy="824755"/>
            </a:xfrm>
            <a:prstGeom prst="rect">
              <a:avLst/>
            </a:prstGeom>
          </p:spPr>
        </p:pic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C16E8A34-28FE-40F9-93F4-DA0CDC66F26D}"/>
              </a:ext>
            </a:extLst>
          </p:cNvPr>
          <p:cNvSpPr txBox="1"/>
          <p:nvPr/>
        </p:nvSpPr>
        <p:spPr>
          <a:xfrm>
            <a:off x="887506" y="188260"/>
            <a:ext cx="10836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>
                <a:solidFill>
                  <a:schemeClr val="bg1"/>
                </a:solidFill>
                <a:highlight>
                  <a:srgbClr val="008080"/>
                </a:highlight>
              </a:rPr>
              <a:t> ENTENDIMIENTO DEL NEGOCIO Y PROBLEMÁTICA  </a:t>
            </a:r>
            <a:endParaRPr lang="es-PE" sz="2400" i="1" dirty="0">
              <a:solidFill>
                <a:schemeClr val="bg1"/>
              </a:solidFill>
              <a:highlight>
                <a:srgbClr val="008080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1A0DB49-BD08-4B71-A12F-37CE11646715}"/>
              </a:ext>
            </a:extLst>
          </p:cNvPr>
          <p:cNvSpPr txBox="1"/>
          <p:nvPr/>
        </p:nvSpPr>
        <p:spPr>
          <a:xfrm>
            <a:off x="7467597" y="1307557"/>
            <a:ext cx="40251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400" b="1" i="1" dirty="0">
                <a:solidFill>
                  <a:schemeClr val="bg1"/>
                </a:solidFill>
              </a:rPr>
              <a:t>Desafío:</a:t>
            </a:r>
          </a:p>
          <a:p>
            <a:pPr algn="just"/>
            <a:r>
              <a:rPr lang="es-MX" sz="1400" i="1" dirty="0">
                <a:solidFill>
                  <a:schemeClr val="bg1"/>
                </a:solidFill>
              </a:rPr>
              <a:t>El valor de una vivienda depende de múltiples variables económicas, urbanas y estructurales, haciendo difícil una valoración objetiva y consistente.</a:t>
            </a:r>
            <a:endParaRPr lang="es-PE" sz="1400" i="1" dirty="0">
              <a:solidFill>
                <a:schemeClr val="bg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73B7D3F-C728-4CA5-B391-86EC613F59F0}"/>
              </a:ext>
            </a:extLst>
          </p:cNvPr>
          <p:cNvSpPr txBox="1"/>
          <p:nvPr/>
        </p:nvSpPr>
        <p:spPr>
          <a:xfrm>
            <a:off x="7503457" y="3171899"/>
            <a:ext cx="40251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400" b="1" i="1" dirty="0">
                <a:solidFill>
                  <a:schemeClr val="bg1"/>
                </a:solidFill>
              </a:rPr>
              <a:t>Solución:</a:t>
            </a:r>
          </a:p>
          <a:p>
            <a:pPr algn="just"/>
            <a:r>
              <a:rPr lang="es-MX" sz="1400" i="1" dirty="0">
                <a:solidFill>
                  <a:schemeClr val="bg1"/>
                </a:solidFill>
              </a:rPr>
              <a:t>Implementación de modelos de Machine </a:t>
            </a:r>
            <a:r>
              <a:rPr lang="es-MX" sz="1400" i="1" dirty="0" err="1">
                <a:solidFill>
                  <a:schemeClr val="bg1"/>
                </a:solidFill>
              </a:rPr>
              <a:t>Learning</a:t>
            </a:r>
            <a:r>
              <a:rPr lang="es-MX" sz="1400" i="1" dirty="0">
                <a:solidFill>
                  <a:schemeClr val="bg1"/>
                </a:solidFill>
              </a:rPr>
              <a:t> para estimar precios de viviendas, comparar algoritmos de regresión y detectar oportunidades de mercado mediante análisis predictivo.</a:t>
            </a:r>
            <a:endParaRPr lang="es-PE" sz="1400" i="1" dirty="0">
              <a:solidFill>
                <a:schemeClr val="bg1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21F64F5-0C6F-4585-8D8B-1D3F6A3CB56D}"/>
              </a:ext>
            </a:extLst>
          </p:cNvPr>
          <p:cNvSpPr txBox="1"/>
          <p:nvPr/>
        </p:nvSpPr>
        <p:spPr>
          <a:xfrm>
            <a:off x="7575175" y="4829908"/>
            <a:ext cx="40251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400" b="1" i="1" dirty="0">
                <a:solidFill>
                  <a:schemeClr val="bg1"/>
                </a:solidFill>
              </a:rPr>
              <a:t>Impacto:</a:t>
            </a:r>
          </a:p>
          <a:p>
            <a:pPr marL="285750" indent="-285750" algn="just">
              <a:buFontTx/>
              <a:buChar char="-"/>
            </a:pPr>
            <a:r>
              <a:rPr lang="es-MX" sz="1400" i="1" dirty="0">
                <a:solidFill>
                  <a:schemeClr val="bg1"/>
                </a:solidFill>
              </a:rPr>
              <a:t>Mayor precisión en valuaciones</a:t>
            </a:r>
          </a:p>
          <a:p>
            <a:pPr marL="285750" indent="-285750" algn="just">
              <a:buFontTx/>
              <a:buChar char="-"/>
            </a:pPr>
            <a:r>
              <a:rPr lang="es-MX" sz="1400" i="1" dirty="0">
                <a:solidFill>
                  <a:schemeClr val="bg1"/>
                </a:solidFill>
              </a:rPr>
              <a:t>Automatización del análisis inmobiliario</a:t>
            </a:r>
          </a:p>
          <a:p>
            <a:pPr marL="285750" indent="-285750" algn="just">
              <a:buFontTx/>
              <a:buChar char="-"/>
            </a:pPr>
            <a:r>
              <a:rPr lang="es-MX" sz="1400" i="1" dirty="0">
                <a:solidFill>
                  <a:schemeClr val="bg1"/>
                </a:solidFill>
              </a:rPr>
              <a:t>Detección de oportunidades de inversión</a:t>
            </a:r>
          </a:p>
          <a:p>
            <a:pPr marL="285750" indent="-285750" algn="just">
              <a:buFontTx/>
              <a:buChar char="-"/>
            </a:pPr>
            <a:r>
              <a:rPr lang="es-MX" sz="1400" i="1" dirty="0">
                <a:solidFill>
                  <a:schemeClr val="bg1"/>
                </a:solidFill>
              </a:rPr>
              <a:t>Toma de decisiones basada en datos</a:t>
            </a:r>
            <a:endParaRPr lang="es-PE" sz="1400" i="1" dirty="0">
              <a:solidFill>
                <a:schemeClr val="bg1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C4575C4-1749-4DDF-BE33-1EBDBE54FFD6}"/>
              </a:ext>
            </a:extLst>
          </p:cNvPr>
          <p:cNvSpPr txBox="1"/>
          <p:nvPr/>
        </p:nvSpPr>
        <p:spPr>
          <a:xfrm>
            <a:off x="887506" y="1313964"/>
            <a:ext cx="402515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b="1" i="1" dirty="0">
                <a:solidFill>
                  <a:schemeClr val="bg1"/>
                </a:solidFill>
              </a:rPr>
              <a:t>Problemática:</a:t>
            </a:r>
          </a:p>
          <a:p>
            <a:pPr algn="just"/>
            <a:r>
              <a:rPr lang="es-MX" sz="1600" i="1" dirty="0">
                <a:solidFill>
                  <a:schemeClr val="bg1"/>
                </a:solidFill>
              </a:rPr>
              <a:t>Determinar el precio adecuado de una vivienda es un desafío complejo debido a la interacción de múltiples factores como ubicación, características físicas, nivel socioeconómico, accesibilidad, impuestos y entorno urbano.</a:t>
            </a:r>
          </a:p>
          <a:p>
            <a:pPr algn="just"/>
            <a:endParaRPr lang="es-MX" sz="1600" b="1" i="1" dirty="0">
              <a:solidFill>
                <a:schemeClr val="bg1"/>
              </a:solidFill>
            </a:endParaRPr>
          </a:p>
          <a:p>
            <a:pPr algn="just"/>
            <a:r>
              <a:rPr lang="es-MX" sz="1600" i="1" dirty="0">
                <a:solidFill>
                  <a:schemeClr val="bg1"/>
                </a:solidFill>
              </a:rPr>
              <a:t>Errores en la estimación pueden generar:</a:t>
            </a:r>
          </a:p>
          <a:p>
            <a:pPr algn="just"/>
            <a:endParaRPr lang="es-MX" sz="1600" i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i="1" dirty="0">
                <a:solidFill>
                  <a:schemeClr val="bg1"/>
                </a:solidFill>
              </a:rPr>
              <a:t>Sobrevaloración: propiedades difíciles de vender.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i="1" dirty="0">
                <a:solidFill>
                  <a:schemeClr val="bg1"/>
                </a:solidFill>
              </a:rPr>
              <a:t>Subvaloración: pérdidas económicas y oportunidades desaprovechadas.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i="1" dirty="0">
                <a:solidFill>
                  <a:schemeClr val="bg1"/>
                </a:solidFill>
              </a:rPr>
              <a:t>Decisiones de inversión poco precisas.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i="1" dirty="0">
                <a:solidFill>
                  <a:schemeClr val="bg1"/>
                </a:solidFill>
              </a:rPr>
              <a:t>Valorizaciones inmobiliarias subjetivas o inconsistentes.</a:t>
            </a:r>
            <a:endParaRPr lang="es-PE" sz="16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97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>
            <a:extLst>
              <a:ext uri="{FF2B5EF4-FFF2-40B4-BE49-F238E27FC236}">
                <a16:creationId xmlns:a16="http://schemas.microsoft.com/office/drawing/2014/main" id="{9442A8D7-F14C-4992-B2EB-06613C863707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908D91B0-3D0C-440D-A8B0-B85008FBDD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289" t="1314" r="33247" b="70450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69504978-DE10-4D1B-9D5E-116C1B1A6C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61540" y="2265582"/>
              <a:ext cx="1181189" cy="1065950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F4F706E1-71C7-4672-B19F-B12FE7331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11045" y="2098380"/>
              <a:ext cx="1181189" cy="106595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749CB1E0-D01F-45D0-B617-BEE480FCD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23305" y="2265582"/>
              <a:ext cx="1181189" cy="869012"/>
            </a:xfrm>
            <a:prstGeom prst="rect">
              <a:avLst/>
            </a:prstGeom>
          </p:spPr>
        </p:pic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CB620693-9785-4527-B150-AE46A4CE8207}"/>
              </a:ext>
            </a:extLst>
          </p:cNvPr>
          <p:cNvSpPr txBox="1"/>
          <p:nvPr/>
        </p:nvSpPr>
        <p:spPr>
          <a:xfrm>
            <a:off x="887506" y="188260"/>
            <a:ext cx="10836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>
                <a:solidFill>
                  <a:schemeClr val="bg1"/>
                </a:solidFill>
                <a:highlight>
                  <a:srgbClr val="008080"/>
                </a:highlight>
              </a:rPr>
              <a:t> ENTENDIMIENTO DE LOS DATOS</a:t>
            </a:r>
            <a:endParaRPr lang="es-PE" sz="2400" i="1" dirty="0">
              <a:solidFill>
                <a:schemeClr val="bg1"/>
              </a:solidFill>
              <a:highlight>
                <a:srgbClr val="008080"/>
              </a:highlight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3A5718E-098A-45CA-9AD3-C6FA81616E65}"/>
              </a:ext>
            </a:extLst>
          </p:cNvPr>
          <p:cNvSpPr txBox="1"/>
          <p:nvPr/>
        </p:nvSpPr>
        <p:spPr>
          <a:xfrm>
            <a:off x="887506" y="1122472"/>
            <a:ext cx="40251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400" b="1" i="1" dirty="0">
                <a:solidFill>
                  <a:schemeClr val="bg1"/>
                </a:solidFill>
              </a:rPr>
              <a:t>Descripción general del </a:t>
            </a:r>
            <a:r>
              <a:rPr lang="es-MX" sz="1400" b="1" i="1" dirty="0" err="1">
                <a:solidFill>
                  <a:schemeClr val="bg1"/>
                </a:solidFill>
              </a:rPr>
              <a:t>dataset</a:t>
            </a:r>
            <a:r>
              <a:rPr lang="es-MX" sz="1400" b="1" i="1" dirty="0">
                <a:solidFill>
                  <a:schemeClr val="bg1"/>
                </a:solidFill>
              </a:rPr>
              <a:t>:</a:t>
            </a:r>
          </a:p>
          <a:p>
            <a:pPr algn="just"/>
            <a:endParaRPr lang="es-MX" sz="1400" b="1" i="1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i="1" dirty="0" err="1">
                <a:solidFill>
                  <a:schemeClr val="bg1"/>
                </a:solidFill>
              </a:rPr>
              <a:t>Dataset</a:t>
            </a:r>
            <a:r>
              <a:rPr lang="es-MX" sz="1400" i="1" dirty="0">
                <a:solidFill>
                  <a:schemeClr val="bg1"/>
                </a:solidFill>
              </a:rPr>
              <a:t> de viviendas residenciales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i="1" dirty="0">
                <a:solidFill>
                  <a:schemeClr val="bg1"/>
                </a:solidFill>
              </a:rPr>
              <a:t>459 registros (viviendas)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i="1" dirty="0">
                <a:solidFill>
                  <a:schemeClr val="bg1"/>
                </a:solidFill>
              </a:rPr>
              <a:t>1 variable objetivo (target): PRICE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i="1" dirty="0">
                <a:solidFill>
                  <a:schemeClr val="bg1"/>
                </a:solidFill>
              </a:rPr>
              <a:t>15 variables originales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400" i="1" dirty="0">
              <a:solidFill>
                <a:schemeClr val="bg1"/>
              </a:solidFill>
            </a:endParaRPr>
          </a:p>
          <a:p>
            <a:pPr algn="just"/>
            <a:r>
              <a:rPr lang="es-MX" sz="1400" i="1" dirty="0">
                <a:solidFill>
                  <a:schemeClr val="bg1"/>
                </a:solidFill>
              </a:rPr>
              <a:t>Problema de negocio: predicción del valor de viviendas</a:t>
            </a:r>
            <a:endParaRPr lang="es-PE" sz="1400" i="1" dirty="0">
              <a:solidFill>
                <a:schemeClr val="bg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667B20-5248-4C23-90F6-868863D20C81}"/>
              </a:ext>
            </a:extLst>
          </p:cNvPr>
          <p:cNvSpPr txBox="1"/>
          <p:nvPr/>
        </p:nvSpPr>
        <p:spPr>
          <a:xfrm>
            <a:off x="887506" y="4062895"/>
            <a:ext cx="4025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400" b="1" i="1" dirty="0">
                <a:solidFill>
                  <a:schemeClr val="bg1"/>
                </a:solidFill>
              </a:rPr>
              <a:t>Tipología de variables:</a:t>
            </a:r>
          </a:p>
        </p:txBody>
      </p:sp>
      <p:graphicFrame>
        <p:nvGraphicFramePr>
          <p:cNvPr id="2" name="Tabla 7">
            <a:extLst>
              <a:ext uri="{FF2B5EF4-FFF2-40B4-BE49-F238E27FC236}">
                <a16:creationId xmlns:a16="http://schemas.microsoft.com/office/drawing/2014/main" id="{FB8D721F-53E8-4DAD-928F-86C983879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976206"/>
              </p:ext>
            </p:extLst>
          </p:nvPr>
        </p:nvGraphicFramePr>
        <p:xfrm>
          <a:off x="887506" y="4487214"/>
          <a:ext cx="4799106" cy="1828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399553">
                  <a:extLst>
                    <a:ext uri="{9D8B030D-6E8A-4147-A177-3AD203B41FA5}">
                      <a16:colId xmlns:a16="http://schemas.microsoft.com/office/drawing/2014/main" val="2458459692"/>
                    </a:ext>
                  </a:extLst>
                </a:gridCol>
                <a:gridCol w="2399553">
                  <a:extLst>
                    <a:ext uri="{9D8B030D-6E8A-4147-A177-3AD203B41FA5}">
                      <a16:colId xmlns:a16="http://schemas.microsoft.com/office/drawing/2014/main" val="2906158694"/>
                    </a:ext>
                  </a:extLst>
                </a:gridCol>
              </a:tblGrid>
              <a:tr h="170671"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Categoría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400">
                          <a:solidFill>
                            <a:schemeClr val="bg1"/>
                          </a:solidFill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2389361"/>
                  </a:ext>
                </a:extLst>
              </a:tr>
              <a:tr h="201669">
                <a:tc>
                  <a:txBody>
                    <a:bodyPr/>
                    <a:lstStyle/>
                    <a:p>
                      <a:r>
                        <a:rPr lang="es-PE" sz="1400" b="0" dirty="0">
                          <a:solidFill>
                            <a:schemeClr val="bg1"/>
                          </a:solidFill>
                        </a:rPr>
                        <a:t>Ubicación / Entorno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400" b="0">
                          <a:solidFill>
                            <a:schemeClr val="bg1"/>
                          </a:solidFill>
                        </a:rPr>
                        <a:t>CRIM, CHAS, NOX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3616170"/>
                  </a:ext>
                </a:extLst>
              </a:tr>
              <a:tr h="170671">
                <a:tc>
                  <a:txBody>
                    <a:bodyPr/>
                    <a:lstStyle/>
                    <a:p>
                      <a:r>
                        <a:rPr lang="es-PE" sz="1400" b="0" dirty="0">
                          <a:solidFill>
                            <a:schemeClr val="bg1"/>
                          </a:solidFill>
                        </a:rPr>
                        <a:t>Infraestructura / Accesibilidad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400" b="0" dirty="0">
                          <a:solidFill>
                            <a:schemeClr val="bg1"/>
                          </a:solidFill>
                        </a:rPr>
                        <a:t>DIS, RAD, TAX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066531"/>
                  </a:ext>
                </a:extLst>
              </a:tr>
              <a:tr h="170671">
                <a:tc>
                  <a:txBody>
                    <a:bodyPr/>
                    <a:lstStyle/>
                    <a:p>
                      <a:r>
                        <a:rPr lang="es-PE" sz="1400" b="0">
                          <a:solidFill>
                            <a:schemeClr val="bg1"/>
                          </a:solidFill>
                        </a:rPr>
                        <a:t>Características de vivienda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400" b="0" dirty="0">
                          <a:solidFill>
                            <a:schemeClr val="bg1"/>
                          </a:solidFill>
                        </a:rPr>
                        <a:t>RM, AGE, ZN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9928186"/>
                  </a:ext>
                </a:extLst>
              </a:tr>
              <a:tr h="170671">
                <a:tc>
                  <a:txBody>
                    <a:bodyPr/>
                    <a:lstStyle/>
                    <a:p>
                      <a:r>
                        <a:rPr lang="es-PE" sz="1400" b="0">
                          <a:solidFill>
                            <a:schemeClr val="bg1"/>
                          </a:solidFill>
                        </a:rPr>
                        <a:t>Factores socioeconómicos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400" b="0" dirty="0">
                          <a:solidFill>
                            <a:schemeClr val="bg1"/>
                          </a:solidFill>
                        </a:rPr>
                        <a:t>PTRATIO, B, LSTAT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82898"/>
                  </a:ext>
                </a:extLst>
              </a:tr>
              <a:tr h="170671">
                <a:tc>
                  <a:txBody>
                    <a:bodyPr/>
                    <a:lstStyle/>
                    <a:p>
                      <a:r>
                        <a:rPr lang="es-PE" sz="1400" b="0">
                          <a:solidFill>
                            <a:schemeClr val="bg1"/>
                          </a:solidFill>
                        </a:rPr>
                        <a:t>Variable objetivo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400" b="0" dirty="0">
                          <a:solidFill>
                            <a:schemeClr val="bg1"/>
                          </a:solidFill>
                        </a:rPr>
                        <a:t>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0045539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F7792FA5-9045-4213-838A-3BA3C389C340}"/>
              </a:ext>
            </a:extLst>
          </p:cNvPr>
          <p:cNvSpPr txBox="1"/>
          <p:nvPr/>
        </p:nvSpPr>
        <p:spPr>
          <a:xfrm>
            <a:off x="6926729" y="4256381"/>
            <a:ext cx="3328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i="1" dirty="0">
                <a:solidFill>
                  <a:schemeClr val="bg1"/>
                </a:solidFill>
              </a:rPr>
              <a:t>El mercado presenta alta dispersión de precios, indicando presencia de viviendas de distintos segmentos económicos.</a:t>
            </a:r>
            <a:endParaRPr lang="es-PE" sz="1200" i="1" dirty="0">
              <a:solidFill>
                <a:schemeClr val="bg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A36457F-064A-42A7-9A2C-442EEA0983B2}"/>
              </a:ext>
            </a:extLst>
          </p:cNvPr>
          <p:cNvSpPr txBox="1"/>
          <p:nvPr/>
        </p:nvSpPr>
        <p:spPr>
          <a:xfrm>
            <a:off x="9413807" y="5640879"/>
            <a:ext cx="2309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MX" sz="1200" i="1" dirty="0">
                <a:solidFill>
                  <a:schemeClr val="bg1"/>
                </a:solidFill>
              </a:rPr>
              <a:t>Media: 22.88 mil USD</a:t>
            </a: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MX" sz="1200" i="1" dirty="0">
                <a:solidFill>
                  <a:schemeClr val="bg1"/>
                </a:solidFill>
              </a:rPr>
              <a:t>Mediana: 21.6 mil USD</a:t>
            </a: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MX" sz="1200" i="1" dirty="0">
                <a:solidFill>
                  <a:schemeClr val="bg1"/>
                </a:solidFill>
              </a:rPr>
              <a:t>Desviación estándar: 9.49</a:t>
            </a:r>
            <a:endParaRPr lang="es-PE" sz="1200" i="1" dirty="0">
              <a:solidFill>
                <a:schemeClr val="bg1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A8D8433-7D55-456E-ACA8-B0F1A454F946}"/>
              </a:ext>
            </a:extLst>
          </p:cNvPr>
          <p:cNvSpPr txBox="1"/>
          <p:nvPr/>
        </p:nvSpPr>
        <p:spPr>
          <a:xfrm>
            <a:off x="8443496" y="2232697"/>
            <a:ext cx="1414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i="1" dirty="0">
                <a:solidFill>
                  <a:schemeClr val="bg1"/>
                </a:solidFill>
              </a:rPr>
              <a:t>Presencia de variables con asimetría elevada.</a:t>
            </a:r>
          </a:p>
          <a:p>
            <a:r>
              <a:rPr lang="es-MX" sz="1200" i="1" dirty="0">
                <a:solidFill>
                  <a:schemeClr val="bg1"/>
                </a:solidFill>
              </a:rPr>
              <a:t>(CRIM, ZN, LSTAT)</a:t>
            </a:r>
            <a:endParaRPr lang="es-PE" sz="1200" i="1" dirty="0">
              <a:solidFill>
                <a:schemeClr val="bg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A1E2618-AD6B-443B-B8E3-1E143F1ECEAE}"/>
              </a:ext>
            </a:extLst>
          </p:cNvPr>
          <p:cNvSpPr txBox="1"/>
          <p:nvPr/>
        </p:nvSpPr>
        <p:spPr>
          <a:xfrm>
            <a:off x="6693229" y="2176072"/>
            <a:ext cx="13178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i="1" dirty="0">
                <a:solidFill>
                  <a:schemeClr val="bg1"/>
                </a:solidFill>
              </a:rPr>
              <a:t>Posible presencia de </a:t>
            </a:r>
            <a:r>
              <a:rPr lang="es-MX" sz="1200" i="1" dirty="0" err="1">
                <a:solidFill>
                  <a:schemeClr val="bg1"/>
                </a:solidFill>
              </a:rPr>
              <a:t>outliers</a:t>
            </a:r>
            <a:r>
              <a:rPr lang="es-MX" sz="1200" i="1" dirty="0">
                <a:solidFill>
                  <a:schemeClr val="bg1"/>
                </a:solidFill>
              </a:rPr>
              <a:t>.</a:t>
            </a:r>
          </a:p>
          <a:p>
            <a:endParaRPr lang="es-MX" sz="1200" i="1" dirty="0">
              <a:solidFill>
                <a:schemeClr val="bg1"/>
              </a:solidFill>
            </a:endParaRPr>
          </a:p>
          <a:p>
            <a:r>
              <a:rPr lang="es-MX" sz="1200" i="1" dirty="0">
                <a:solidFill>
                  <a:schemeClr val="bg1"/>
                </a:solidFill>
              </a:rPr>
              <a:t>(CRIM, TAX, RAD)</a:t>
            </a:r>
            <a:endParaRPr lang="es-PE" sz="1200" i="1" dirty="0">
              <a:solidFill>
                <a:schemeClr val="bg1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747C459-938C-43D4-A781-6159883A19D5}"/>
              </a:ext>
            </a:extLst>
          </p:cNvPr>
          <p:cNvSpPr txBox="1"/>
          <p:nvPr/>
        </p:nvSpPr>
        <p:spPr>
          <a:xfrm>
            <a:off x="10245405" y="2198392"/>
            <a:ext cx="14142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i="1" dirty="0">
                <a:solidFill>
                  <a:schemeClr val="bg1"/>
                </a:solidFill>
              </a:rPr>
              <a:t>Diferencias importantes de escala entre variables.</a:t>
            </a:r>
          </a:p>
          <a:p>
            <a:r>
              <a:rPr lang="es-MX" sz="1200" i="1" dirty="0">
                <a:solidFill>
                  <a:schemeClr val="bg1"/>
                </a:solidFill>
              </a:rPr>
              <a:t>(CRIM, TAX, NOX)</a:t>
            </a:r>
            <a:endParaRPr lang="es-PE" sz="12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1290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592F6C8C-F0F2-4387-816B-7303FFB504B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75C48C26-C3C5-40C4-8C61-6D1151F510AA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pic>
            <p:nvPicPr>
              <p:cNvPr id="5" name="Imagen 4">
                <a:extLst>
                  <a:ext uri="{FF2B5EF4-FFF2-40B4-BE49-F238E27FC236}">
                    <a16:creationId xmlns:a16="http://schemas.microsoft.com/office/drawing/2014/main" id="{99BAD5A1-C579-4133-9EFC-F7D7774D824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289" t="1314" r="33247" b="70450"/>
              <a:stretch/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pic>
            <p:nvPicPr>
              <p:cNvPr id="6" name="Imagen 5">
                <a:extLst>
                  <a:ext uri="{FF2B5EF4-FFF2-40B4-BE49-F238E27FC236}">
                    <a16:creationId xmlns:a16="http://schemas.microsoft.com/office/drawing/2014/main" id="{911B2C5E-0AF5-42EB-8856-5AF0C90BD1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61540" y="2265582"/>
                <a:ext cx="1181189" cy="1065950"/>
              </a:xfrm>
              <a:prstGeom prst="rect">
                <a:avLst/>
              </a:prstGeom>
            </p:spPr>
          </p:pic>
          <p:pic>
            <p:nvPicPr>
              <p:cNvPr id="7" name="Imagen 6">
                <a:extLst>
                  <a:ext uri="{FF2B5EF4-FFF2-40B4-BE49-F238E27FC236}">
                    <a16:creationId xmlns:a16="http://schemas.microsoft.com/office/drawing/2014/main" id="{063C0312-3D9C-4A22-8AB9-F457C0D41D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1045" y="2098380"/>
                <a:ext cx="1181189" cy="1065950"/>
              </a:xfrm>
              <a:prstGeom prst="rect">
                <a:avLst/>
              </a:prstGeom>
            </p:spPr>
          </p:pic>
          <p:pic>
            <p:nvPicPr>
              <p:cNvPr id="8" name="Imagen 7">
                <a:extLst>
                  <a:ext uri="{FF2B5EF4-FFF2-40B4-BE49-F238E27FC236}">
                    <a16:creationId xmlns:a16="http://schemas.microsoft.com/office/drawing/2014/main" id="{26F7D137-932E-44C8-A330-D024CCB678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23305" y="2265582"/>
                <a:ext cx="1181189" cy="869012"/>
              </a:xfrm>
              <a:prstGeom prst="rect">
                <a:avLst/>
              </a:prstGeom>
            </p:spPr>
          </p:pic>
        </p:grpSp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E0B29277-DD59-4DB9-B955-5B620B9E7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84135" y="792252"/>
              <a:ext cx="5418104" cy="2636748"/>
            </a:xfrm>
            <a:prstGeom prst="rect">
              <a:avLst/>
            </a:prstGeom>
          </p:spPr>
        </p:pic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94F3D3C6-7080-4C80-AFAA-D25101103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135" y="3675886"/>
            <a:ext cx="5290510" cy="299385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CC7911C-547C-4896-A70B-70435582BE7F}"/>
              </a:ext>
            </a:extLst>
          </p:cNvPr>
          <p:cNvSpPr txBox="1"/>
          <p:nvPr/>
        </p:nvSpPr>
        <p:spPr>
          <a:xfrm>
            <a:off x="887506" y="188260"/>
            <a:ext cx="10836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>
                <a:solidFill>
                  <a:schemeClr val="bg1"/>
                </a:solidFill>
                <a:highlight>
                  <a:srgbClr val="008080"/>
                </a:highlight>
              </a:rPr>
              <a:t>HALLAZGOS EN ANÁLISIS EXPLORATORIO DE DATOS</a:t>
            </a:r>
            <a:endParaRPr lang="es-PE" sz="2400" i="1" dirty="0">
              <a:solidFill>
                <a:schemeClr val="bg1"/>
              </a:solidFill>
              <a:highlight>
                <a:srgbClr val="008080"/>
              </a:highlight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AD8398C-DA9B-43F2-801B-70018619D7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47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9318" y="931491"/>
            <a:ext cx="2785530" cy="226551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C6A5FAA-CAA5-4A48-BA3A-EB9D44590468}"/>
              </a:ext>
            </a:extLst>
          </p:cNvPr>
          <p:cNvSpPr txBox="1"/>
          <p:nvPr/>
        </p:nvSpPr>
        <p:spPr>
          <a:xfrm>
            <a:off x="3673374" y="1022851"/>
            <a:ext cx="22522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s-MX" sz="1200" i="1" dirty="0">
                <a:solidFill>
                  <a:schemeClr val="bg1"/>
                </a:solidFill>
              </a:rPr>
              <a:t>Se identificaron variables con alta multicolinealidad, lo cual puede afectar la estabilidad de los modelos.</a:t>
            </a:r>
          </a:p>
          <a:p>
            <a:pPr marL="171450" indent="-171450">
              <a:buFontTx/>
              <a:buChar char="-"/>
            </a:pPr>
            <a:endParaRPr lang="es-MX" sz="1200" i="1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es-PE" sz="1200" i="1" dirty="0">
                <a:solidFill>
                  <a:schemeClr val="bg1"/>
                </a:solidFill>
              </a:rPr>
              <a:t>Variables removidas: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s-PE" sz="1200" i="1" dirty="0">
                <a:solidFill>
                  <a:schemeClr val="bg1"/>
                </a:solidFill>
              </a:rPr>
              <a:t>RAD (</a:t>
            </a:r>
            <a:r>
              <a:rPr lang="es-MX" sz="1200" i="1" dirty="0">
                <a:solidFill>
                  <a:schemeClr val="bg1"/>
                </a:solidFill>
              </a:rPr>
              <a:t>Alta correlación con TAX (≈0.9)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s-PE" sz="1200" i="1" dirty="0">
                <a:solidFill>
                  <a:schemeClr val="bg1"/>
                </a:solidFill>
              </a:rPr>
              <a:t>NOX (</a:t>
            </a:r>
            <a:r>
              <a:rPr lang="es-MX" sz="1200" i="1" dirty="0">
                <a:solidFill>
                  <a:schemeClr val="bg1"/>
                </a:solidFill>
              </a:rPr>
              <a:t>Alta correlación con INDUS / AGE / DIS)</a:t>
            </a:r>
            <a:endParaRPr lang="es-PE" sz="1200" i="1" dirty="0">
              <a:solidFill>
                <a:schemeClr val="bg1"/>
              </a:solidFill>
            </a:endParaRPr>
          </a:p>
        </p:txBody>
      </p:sp>
      <p:graphicFrame>
        <p:nvGraphicFramePr>
          <p:cNvPr id="15" name="Tabla 7">
            <a:extLst>
              <a:ext uri="{FF2B5EF4-FFF2-40B4-BE49-F238E27FC236}">
                <a16:creationId xmlns:a16="http://schemas.microsoft.com/office/drawing/2014/main" id="{6F53B30C-BDCC-477F-80DE-EF665E6EE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284337"/>
              </p:ext>
            </p:extLst>
          </p:nvPr>
        </p:nvGraphicFramePr>
        <p:xfrm>
          <a:off x="6925842" y="1438583"/>
          <a:ext cx="4496458" cy="1828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97054">
                  <a:extLst>
                    <a:ext uri="{9D8B030D-6E8A-4147-A177-3AD203B41FA5}">
                      <a16:colId xmlns:a16="http://schemas.microsoft.com/office/drawing/2014/main" val="2458459692"/>
                    </a:ext>
                  </a:extLst>
                </a:gridCol>
                <a:gridCol w="1599702">
                  <a:extLst>
                    <a:ext uri="{9D8B030D-6E8A-4147-A177-3AD203B41FA5}">
                      <a16:colId xmlns:a16="http://schemas.microsoft.com/office/drawing/2014/main" val="2906158694"/>
                    </a:ext>
                  </a:extLst>
                </a:gridCol>
                <a:gridCol w="1599702">
                  <a:extLst>
                    <a:ext uri="{9D8B030D-6E8A-4147-A177-3AD203B41FA5}">
                      <a16:colId xmlns:a16="http://schemas.microsoft.com/office/drawing/2014/main" val="68680178"/>
                    </a:ext>
                  </a:extLst>
                </a:gridCol>
              </a:tblGrid>
              <a:tr h="170671"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% </a:t>
                      </a:r>
                      <a:r>
                        <a:rPr lang="es-PE" sz="1400" dirty="0" err="1">
                          <a:solidFill>
                            <a:schemeClr val="bg1"/>
                          </a:solidFill>
                        </a:rPr>
                        <a:t>Outliers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Acción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2389361"/>
                  </a:ext>
                </a:extLst>
              </a:tr>
              <a:tr h="170671">
                <a:tc>
                  <a:txBody>
                    <a:bodyPr/>
                    <a:lstStyle/>
                    <a:p>
                      <a:r>
                        <a:rPr lang="es-PE" sz="1400" b="0" dirty="0">
                          <a:solidFill>
                            <a:schemeClr val="bg1"/>
                          </a:solidFill>
                        </a:rPr>
                        <a:t>CRIM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400" b="0" dirty="0">
                          <a:solidFill>
                            <a:schemeClr val="bg1"/>
                          </a:solidFill>
                        </a:rPr>
                        <a:t>18.30%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400" b="0">
                          <a:solidFill>
                            <a:schemeClr val="bg1"/>
                          </a:solidFill>
                        </a:rPr>
                        <a:t>Eliminación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3616170"/>
                  </a:ext>
                </a:extLst>
              </a:tr>
              <a:tr h="170671">
                <a:tc>
                  <a:txBody>
                    <a:bodyPr/>
                    <a:lstStyle/>
                    <a:p>
                      <a:r>
                        <a:rPr lang="es-PE" sz="1400" b="0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400" b="0" dirty="0">
                          <a:solidFill>
                            <a:schemeClr val="bg1"/>
                          </a:solidFill>
                        </a:rPr>
                        <a:t>15.25%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400" b="0" dirty="0">
                          <a:solidFill>
                            <a:schemeClr val="bg1"/>
                          </a:solidFill>
                        </a:rPr>
                        <a:t>Conservada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066531"/>
                  </a:ext>
                </a:extLst>
              </a:tr>
              <a:tr h="170671">
                <a:tc>
                  <a:txBody>
                    <a:bodyPr/>
                    <a:lstStyle/>
                    <a:p>
                      <a:r>
                        <a:rPr lang="es-PE" sz="1400" b="0">
                          <a:solidFill>
                            <a:schemeClr val="bg1"/>
                          </a:solidFill>
                        </a:rPr>
                        <a:t>ZN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400" b="0" dirty="0">
                          <a:solidFill>
                            <a:schemeClr val="bg1"/>
                          </a:solidFill>
                        </a:rPr>
                        <a:t>9.80%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400" b="0" dirty="0">
                          <a:solidFill>
                            <a:schemeClr val="bg1"/>
                          </a:solidFill>
                        </a:rPr>
                        <a:t>Imputación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9928186"/>
                  </a:ext>
                </a:extLst>
              </a:tr>
              <a:tr h="170671">
                <a:tc>
                  <a:txBody>
                    <a:bodyPr/>
                    <a:lstStyle/>
                    <a:p>
                      <a:r>
                        <a:rPr lang="es-PE" sz="1400" b="0">
                          <a:solidFill>
                            <a:schemeClr val="bg1"/>
                          </a:solidFill>
                        </a:rPr>
                        <a:t>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400" b="0">
                          <a:solidFill>
                            <a:schemeClr val="bg1"/>
                          </a:solidFill>
                        </a:rPr>
                        <a:t>6.54%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400" b="0" dirty="0">
                          <a:solidFill>
                            <a:schemeClr val="bg1"/>
                          </a:solidFill>
                        </a:rPr>
                        <a:t>Conservada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82898"/>
                  </a:ext>
                </a:extLst>
              </a:tr>
              <a:tr h="170671">
                <a:tc>
                  <a:txBody>
                    <a:bodyPr/>
                    <a:lstStyle/>
                    <a:p>
                      <a:r>
                        <a:rPr lang="es-PE" sz="1400" b="0" dirty="0">
                          <a:solidFill>
                            <a:schemeClr val="bg1"/>
                          </a:solidFill>
                        </a:rPr>
                        <a:t>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400" b="0" dirty="0">
                          <a:solidFill>
                            <a:schemeClr val="bg1"/>
                          </a:solidFill>
                        </a:rPr>
                        <a:t>6.75%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400" b="0" dirty="0">
                          <a:solidFill>
                            <a:schemeClr val="bg1"/>
                          </a:solidFill>
                        </a:rPr>
                        <a:t>Conservada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0045539"/>
                  </a:ext>
                </a:extLst>
              </a:tr>
            </a:tbl>
          </a:graphicData>
        </a:graphic>
      </p:graphicFrame>
      <p:sp>
        <p:nvSpPr>
          <p:cNvPr id="17" name="CuadroTexto 16">
            <a:extLst>
              <a:ext uri="{FF2B5EF4-FFF2-40B4-BE49-F238E27FC236}">
                <a16:creationId xmlns:a16="http://schemas.microsoft.com/office/drawing/2014/main" id="{B66C1672-1ADC-45B5-B4C0-AD8598AF0AE2}"/>
              </a:ext>
            </a:extLst>
          </p:cNvPr>
          <p:cNvSpPr txBox="1"/>
          <p:nvPr/>
        </p:nvSpPr>
        <p:spPr>
          <a:xfrm>
            <a:off x="6846907" y="943079"/>
            <a:ext cx="49553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i="1" dirty="0">
                <a:solidFill>
                  <a:schemeClr val="bg1"/>
                </a:solidFill>
              </a:rPr>
              <a:t>Las variables presentan distintos niveles de dispersión. Se aplicaron estrategias diferenciadas según impacto.</a:t>
            </a:r>
            <a:endParaRPr lang="es-PE" sz="1200" i="1" dirty="0">
              <a:solidFill>
                <a:schemeClr val="bg1"/>
              </a:solidFill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48F05E0-0434-4124-8B96-AC4492FDE9A2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1837" y="4362338"/>
            <a:ext cx="5230761" cy="2201409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943633B9-AF9E-4824-8E04-A25A5B0E2CA5}"/>
              </a:ext>
            </a:extLst>
          </p:cNvPr>
          <p:cNvSpPr txBox="1"/>
          <p:nvPr/>
        </p:nvSpPr>
        <p:spPr>
          <a:xfrm>
            <a:off x="720474" y="3716007"/>
            <a:ext cx="5230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i="1" dirty="0">
                <a:solidFill>
                  <a:schemeClr val="bg1"/>
                </a:solidFill>
              </a:rPr>
              <a:t>Las viviendas asociadas a CRIM extremo presentan patrones de precio significativamente distintos. Por lo que  eliminaron registros extremos de CRIM para mejorar consistencia estadística y capacidad predictiva.</a:t>
            </a:r>
            <a:endParaRPr lang="es-PE" sz="1200" i="1" dirty="0">
              <a:solidFill>
                <a:schemeClr val="bg1"/>
              </a:solidFill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4C556DD8-8B09-41F7-94D5-E8E4AA67B7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9589" y="4216801"/>
            <a:ext cx="2664482" cy="2302263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E1E9273B-40AD-4A42-A2DD-56BC93708675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4845" r="1463"/>
          <a:stretch/>
        </p:blipFill>
        <p:spPr>
          <a:xfrm>
            <a:off x="9174071" y="4216800"/>
            <a:ext cx="2426258" cy="230226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3CD75AB9-5B74-45F0-9AE1-D804E4EF671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1548" t="48256" r="20409" b="12820"/>
          <a:stretch/>
        </p:blipFill>
        <p:spPr>
          <a:xfrm>
            <a:off x="7288306" y="4552472"/>
            <a:ext cx="1546558" cy="896114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ADE72F11-C200-4BC1-AE09-FC9FEFED141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1548" t="48256" r="20409" b="12820"/>
          <a:stretch/>
        </p:blipFill>
        <p:spPr>
          <a:xfrm>
            <a:off x="9592234" y="4456594"/>
            <a:ext cx="1546558" cy="896114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D6C7B11A-10A5-4BA3-B54C-0200F4FC3094}"/>
              </a:ext>
            </a:extLst>
          </p:cNvPr>
          <p:cNvSpPr txBox="1"/>
          <p:nvPr/>
        </p:nvSpPr>
        <p:spPr>
          <a:xfrm>
            <a:off x="6722759" y="4479090"/>
            <a:ext cx="23521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i="1" dirty="0">
                <a:solidFill>
                  <a:schemeClr val="bg1"/>
                </a:solidFill>
              </a:rPr>
              <a:t>Hallazgos clave:</a:t>
            </a:r>
          </a:p>
          <a:p>
            <a:endParaRPr lang="es-MX" sz="1200" i="1" dirty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MX" sz="1200" i="1" dirty="0">
                <a:solidFill>
                  <a:schemeClr val="bg1"/>
                </a:solidFill>
              </a:rPr>
              <a:t>Multicolinealidad detectada.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MX" sz="1200" i="1" dirty="0">
                <a:solidFill>
                  <a:schemeClr val="bg1"/>
                </a:solidFill>
              </a:rPr>
              <a:t>Presencia relevante de </a:t>
            </a:r>
            <a:r>
              <a:rPr lang="es-MX" sz="1200" i="1" dirty="0" err="1">
                <a:solidFill>
                  <a:schemeClr val="bg1"/>
                </a:solidFill>
              </a:rPr>
              <a:t>outliers</a:t>
            </a:r>
            <a:r>
              <a:rPr lang="es-MX" sz="1200" i="1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MX" sz="1200" i="1" dirty="0">
                <a:solidFill>
                  <a:schemeClr val="bg1"/>
                </a:solidFill>
              </a:rPr>
              <a:t>Variables con fuerte asimetría.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MX" sz="1200" i="1" dirty="0">
                <a:solidFill>
                  <a:schemeClr val="bg1"/>
                </a:solidFill>
              </a:rPr>
              <a:t>Evidencia de segmentos anómalos del mercado inmobiliario.</a:t>
            </a:r>
            <a:endParaRPr lang="es-PE" sz="1200" i="1" dirty="0">
              <a:solidFill>
                <a:schemeClr val="bg1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F6A0F31-ACEC-4A9E-AF48-89863123D246}"/>
              </a:ext>
            </a:extLst>
          </p:cNvPr>
          <p:cNvSpPr txBox="1"/>
          <p:nvPr/>
        </p:nvSpPr>
        <p:spPr>
          <a:xfrm>
            <a:off x="9322525" y="4479090"/>
            <a:ext cx="23521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i="1" dirty="0">
                <a:solidFill>
                  <a:schemeClr val="bg1"/>
                </a:solidFill>
              </a:rPr>
              <a:t>Acciones implementadas</a:t>
            </a:r>
          </a:p>
          <a:p>
            <a:endParaRPr lang="es-MX" sz="1200" b="1" i="1" dirty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MX" sz="1200" i="1" dirty="0">
                <a:solidFill>
                  <a:schemeClr val="bg1"/>
                </a:solidFill>
              </a:rPr>
              <a:t>Reducción de variables.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MX" sz="1200" i="1" dirty="0">
                <a:solidFill>
                  <a:schemeClr val="bg1"/>
                </a:solidFill>
              </a:rPr>
              <a:t>Imputación selectiva.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MX" sz="1200" i="1" dirty="0">
                <a:solidFill>
                  <a:schemeClr val="bg1"/>
                </a:solidFill>
              </a:rPr>
              <a:t>Eliminación controlada de observaciones.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MX" sz="1200" i="1" dirty="0">
                <a:solidFill>
                  <a:schemeClr val="bg1"/>
                </a:solidFill>
              </a:rPr>
              <a:t>Preparación para </a:t>
            </a:r>
            <a:r>
              <a:rPr lang="es-MX" sz="1200" i="1" dirty="0" err="1">
                <a:solidFill>
                  <a:schemeClr val="bg1"/>
                </a:solidFill>
              </a:rPr>
              <a:t>Feature</a:t>
            </a:r>
            <a:r>
              <a:rPr lang="es-MX" sz="1200" i="1" dirty="0">
                <a:solidFill>
                  <a:schemeClr val="bg1"/>
                </a:solidFill>
              </a:rPr>
              <a:t> </a:t>
            </a:r>
            <a:r>
              <a:rPr lang="es-MX" sz="1200" i="1" dirty="0" err="1">
                <a:solidFill>
                  <a:schemeClr val="bg1"/>
                </a:solidFill>
              </a:rPr>
              <a:t>Engineering</a:t>
            </a:r>
            <a:r>
              <a:rPr lang="es-MX" sz="1200" i="1" dirty="0">
                <a:solidFill>
                  <a:schemeClr val="bg1"/>
                </a:solidFill>
              </a:rPr>
              <a:t> y Modelado.</a:t>
            </a:r>
            <a:endParaRPr lang="es-PE" sz="1200" i="1" dirty="0">
              <a:solidFill>
                <a:schemeClr val="bg1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3812CFA-EE5C-4E78-87C7-1DB54E9FFE96}"/>
              </a:ext>
            </a:extLst>
          </p:cNvPr>
          <p:cNvSpPr txBox="1"/>
          <p:nvPr/>
        </p:nvSpPr>
        <p:spPr>
          <a:xfrm>
            <a:off x="8117524" y="3824110"/>
            <a:ext cx="2523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i="1" dirty="0">
                <a:solidFill>
                  <a:schemeClr val="bg1"/>
                </a:solidFill>
              </a:rPr>
              <a:t>Conclusiones del EDA</a:t>
            </a:r>
            <a:endParaRPr lang="es-PE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378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8405673-AEF1-434B-93B0-20579A7092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64" t="34379" b="37509"/>
          <a:stretch/>
        </p:blipFill>
        <p:spPr>
          <a:xfrm>
            <a:off x="0" y="0"/>
            <a:ext cx="12192000" cy="700143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BE9E9A1-EED8-451B-AB8A-C6CFA61AB3BE}"/>
              </a:ext>
            </a:extLst>
          </p:cNvPr>
          <p:cNvSpPr txBox="1"/>
          <p:nvPr/>
        </p:nvSpPr>
        <p:spPr>
          <a:xfrm>
            <a:off x="887506" y="0"/>
            <a:ext cx="10836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>
                <a:solidFill>
                  <a:schemeClr val="bg1"/>
                </a:solidFill>
                <a:highlight>
                  <a:srgbClr val="008080"/>
                </a:highlight>
              </a:rPr>
              <a:t>EVALUACIÓN DE ALGORITMOS</a:t>
            </a:r>
            <a:endParaRPr lang="es-PE" sz="2400" i="1" dirty="0">
              <a:solidFill>
                <a:schemeClr val="bg1"/>
              </a:solidFill>
              <a:highlight>
                <a:srgbClr val="008080"/>
              </a:highlight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9307B86-C53F-4E61-8237-4D2CB6575956}"/>
              </a:ext>
            </a:extLst>
          </p:cNvPr>
          <p:cNvSpPr txBox="1"/>
          <p:nvPr/>
        </p:nvSpPr>
        <p:spPr>
          <a:xfrm>
            <a:off x="546848" y="871460"/>
            <a:ext cx="486783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400" b="1" i="1" dirty="0">
                <a:solidFill>
                  <a:schemeClr val="bg1"/>
                </a:solidFill>
              </a:rPr>
              <a:t>PARTICIÓN MUESTRAL:</a:t>
            </a:r>
          </a:p>
          <a:p>
            <a:pPr algn="just"/>
            <a:r>
              <a:rPr lang="es-MX" sz="1400" i="1" dirty="0">
                <a:solidFill>
                  <a:schemeClr val="bg1"/>
                </a:solidFill>
              </a:rPr>
              <a:t>Se selecciona un 30% de la base de análisis para el </a:t>
            </a:r>
            <a:r>
              <a:rPr lang="es-MX" sz="1400" i="1" dirty="0" err="1">
                <a:solidFill>
                  <a:schemeClr val="bg1"/>
                </a:solidFill>
              </a:rPr>
              <a:t>testing</a:t>
            </a:r>
            <a:r>
              <a:rPr lang="es-MX" sz="1400" i="1" dirty="0">
                <a:solidFill>
                  <a:schemeClr val="bg1"/>
                </a:solidFill>
              </a:rPr>
              <a:t>.</a:t>
            </a:r>
          </a:p>
          <a:p>
            <a:pPr algn="just"/>
            <a:endParaRPr lang="es-MX" sz="1400" b="1" i="1" dirty="0">
              <a:solidFill>
                <a:schemeClr val="bg1"/>
              </a:solidFill>
            </a:endParaRPr>
          </a:p>
          <a:p>
            <a:pPr algn="just"/>
            <a:r>
              <a:rPr lang="es-MX" sz="1400" b="1" i="1" dirty="0">
                <a:solidFill>
                  <a:schemeClr val="bg1"/>
                </a:solidFill>
              </a:rPr>
              <a:t>MODELAMIENTO:</a:t>
            </a:r>
          </a:p>
          <a:p>
            <a:pPr algn="just"/>
            <a:r>
              <a:rPr lang="es-MX" sz="1400" i="1" dirty="0">
                <a:solidFill>
                  <a:schemeClr val="bg1"/>
                </a:solidFill>
              </a:rPr>
              <a:t>Se realizaron los modelos: </a:t>
            </a:r>
          </a:p>
          <a:p>
            <a:pPr marL="285750" indent="-285750" algn="just">
              <a:buFontTx/>
              <a:buChar char="-"/>
            </a:pPr>
            <a:r>
              <a:rPr lang="es-MX" sz="1400" i="1" dirty="0">
                <a:solidFill>
                  <a:schemeClr val="bg1"/>
                </a:solidFill>
              </a:rPr>
              <a:t>Regresión lineal múltiple</a:t>
            </a:r>
          </a:p>
          <a:p>
            <a:pPr marL="285750" indent="-285750" algn="just">
              <a:buFontTx/>
              <a:buChar char="-"/>
            </a:pPr>
            <a:r>
              <a:rPr lang="es-MX" sz="1400" i="1" dirty="0">
                <a:solidFill>
                  <a:schemeClr val="bg1"/>
                </a:solidFill>
              </a:rPr>
              <a:t>Regresión Penalizada Ridge</a:t>
            </a:r>
          </a:p>
          <a:p>
            <a:pPr marL="285750" indent="-285750" algn="just">
              <a:buFontTx/>
              <a:buChar char="-"/>
            </a:pPr>
            <a:r>
              <a:rPr lang="es-MX" sz="1400" i="1" dirty="0">
                <a:solidFill>
                  <a:schemeClr val="bg1"/>
                </a:solidFill>
              </a:rPr>
              <a:t>Regresión Penalizada Lasso</a:t>
            </a:r>
          </a:p>
        </p:txBody>
      </p:sp>
      <p:graphicFrame>
        <p:nvGraphicFramePr>
          <p:cNvPr id="6" name="Tabla 7">
            <a:extLst>
              <a:ext uri="{FF2B5EF4-FFF2-40B4-BE49-F238E27FC236}">
                <a16:creationId xmlns:a16="http://schemas.microsoft.com/office/drawing/2014/main" id="{CC32EBD4-DF0E-4910-B60B-C7063FDFE9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594087"/>
              </p:ext>
            </p:extLst>
          </p:nvPr>
        </p:nvGraphicFramePr>
        <p:xfrm>
          <a:off x="546848" y="3256259"/>
          <a:ext cx="4799112" cy="1920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99852">
                  <a:extLst>
                    <a:ext uri="{9D8B030D-6E8A-4147-A177-3AD203B41FA5}">
                      <a16:colId xmlns:a16="http://schemas.microsoft.com/office/drawing/2014/main" val="2458459692"/>
                    </a:ext>
                  </a:extLst>
                </a:gridCol>
                <a:gridCol w="948266">
                  <a:extLst>
                    <a:ext uri="{9D8B030D-6E8A-4147-A177-3AD203B41FA5}">
                      <a16:colId xmlns:a16="http://schemas.microsoft.com/office/drawing/2014/main" val="2906158694"/>
                    </a:ext>
                  </a:extLst>
                </a:gridCol>
                <a:gridCol w="779929">
                  <a:extLst>
                    <a:ext uri="{9D8B030D-6E8A-4147-A177-3AD203B41FA5}">
                      <a16:colId xmlns:a16="http://schemas.microsoft.com/office/drawing/2014/main" val="3508832000"/>
                    </a:ext>
                  </a:extLst>
                </a:gridCol>
                <a:gridCol w="788894">
                  <a:extLst>
                    <a:ext uri="{9D8B030D-6E8A-4147-A177-3AD203B41FA5}">
                      <a16:colId xmlns:a16="http://schemas.microsoft.com/office/drawing/2014/main" val="209992359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280389801"/>
                    </a:ext>
                  </a:extLst>
                </a:gridCol>
                <a:gridCol w="720171">
                  <a:extLst>
                    <a:ext uri="{9D8B030D-6E8A-4147-A177-3AD203B41FA5}">
                      <a16:colId xmlns:a16="http://schemas.microsoft.com/office/drawing/2014/main" val="3523614785"/>
                    </a:ext>
                  </a:extLst>
                </a:gridCol>
              </a:tblGrid>
              <a:tr h="170671">
                <a:tc>
                  <a:txBody>
                    <a:bodyPr/>
                    <a:lstStyle/>
                    <a:p>
                      <a:r>
                        <a:rPr lang="es-PE" sz="1200" dirty="0">
                          <a:solidFill>
                            <a:schemeClr val="bg1"/>
                          </a:solidFill>
                        </a:rPr>
                        <a:t>Modelo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200" dirty="0">
                          <a:solidFill>
                            <a:schemeClr val="bg1"/>
                          </a:solidFill>
                        </a:rPr>
                        <a:t>Muestra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dirty="0">
                          <a:solidFill>
                            <a:schemeClr val="bg1"/>
                          </a:solidFill>
                        </a:rPr>
                        <a:t>MSE</a:t>
                      </a:r>
                      <a:endParaRPr lang="es-PE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dirty="0">
                          <a:solidFill>
                            <a:schemeClr val="bg1"/>
                          </a:solidFill>
                        </a:rPr>
                        <a:t>RMSE</a:t>
                      </a:r>
                      <a:endParaRPr lang="es-PE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dirty="0">
                          <a:solidFill>
                            <a:schemeClr val="bg1"/>
                          </a:solidFill>
                        </a:rPr>
                        <a:t>MAPE</a:t>
                      </a:r>
                      <a:endParaRPr lang="es-PE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dirty="0">
                          <a:solidFill>
                            <a:schemeClr val="bg1"/>
                          </a:solidFill>
                        </a:rPr>
                        <a:t>R2</a:t>
                      </a:r>
                      <a:endParaRPr lang="es-PE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2389361"/>
                  </a:ext>
                </a:extLst>
              </a:tr>
              <a:tr h="201669">
                <a:tc rowSpan="2"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Regresión Múltiple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Train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11.96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3.45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10.24%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83.13%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3616170"/>
                  </a:ext>
                </a:extLst>
              </a:tr>
              <a:tr h="170671">
                <a:tc vMerge="1">
                  <a:txBody>
                    <a:bodyPr/>
                    <a:lstStyle/>
                    <a:p>
                      <a:endParaRPr lang="es-PE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Test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14.90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3.86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11.88%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80.47%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066531"/>
                  </a:ext>
                </a:extLst>
              </a:tr>
              <a:tr h="170671">
                <a:tc rowSpan="2"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Regresión Ridge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Train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12.46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3.53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10.42%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82.42%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9928186"/>
                  </a:ext>
                </a:extLst>
              </a:tr>
              <a:tr h="170671">
                <a:tc vMerge="1">
                  <a:txBody>
                    <a:bodyPr/>
                    <a:lstStyle/>
                    <a:p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Test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15.88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3.98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12.58%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79.19%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82898"/>
                  </a:ext>
                </a:extLst>
              </a:tr>
              <a:tr h="170671">
                <a:tc rowSpan="2"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Regresión Lasso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12.32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3.51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10.40%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82.63%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0045539"/>
                  </a:ext>
                </a:extLst>
              </a:tr>
              <a:tr h="170671">
                <a:tc vMerge="1">
                  <a:txBody>
                    <a:bodyPr/>
                    <a:lstStyle/>
                    <a:p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Test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15.36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3.92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12.34%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200" b="0" dirty="0">
                          <a:solidFill>
                            <a:schemeClr val="bg1"/>
                          </a:solidFill>
                        </a:rPr>
                        <a:t>79.87%</a:t>
                      </a:r>
                      <a:endParaRPr lang="es-PE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9257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2936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565</Words>
  <Application>Microsoft Office PowerPoint</Application>
  <PresentationFormat>Panorámica</PresentationFormat>
  <Paragraphs>142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Cesar Manuel Quezada Balcazar</dc:creator>
  <cp:lastModifiedBy>Cesar Manuel Quezada Balcazar</cp:lastModifiedBy>
  <cp:revision>13</cp:revision>
  <dcterms:created xsi:type="dcterms:W3CDTF">2026-05-26T03:34:20Z</dcterms:created>
  <dcterms:modified xsi:type="dcterms:W3CDTF">2026-06-07T03:42:28Z</dcterms:modified>
</cp:coreProperties>
</file>